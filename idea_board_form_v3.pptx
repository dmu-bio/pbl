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아이디어 보드 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팀명"/>
          <p:cNvSpPr>
            <a:spLocks noGrp="1"/>
          </p:cNvSpPr>
          <p:nvPr>
            <p:ph type="body" sz="quarter" idx="11"/>
          </p:nvPr>
        </p:nvSpPr>
        <p:spPr>
          <a:xfrm>
            <a:off x="2080800" y="432000"/>
            <a:ext cx="4910400" cy="20880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팀명</a:t>
            </a:r>
          </a:p>
        </p:txBody>
      </p:sp>
      <p:sp>
        <p:nvSpPr>
          <p:cNvPr id="3" name="작품 제목"/>
          <p:cNvSpPr>
            <a:spLocks noGrp="1"/>
          </p:cNvSpPr>
          <p:nvPr>
            <p:ph type="body" sz="quarter" idx="12"/>
          </p:nvPr>
        </p:nvSpPr>
        <p:spPr>
          <a:xfrm>
            <a:off x="2080800" y="756000"/>
            <a:ext cx="4910400" cy="28080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작품 제목</a:t>
            </a:r>
          </a:p>
        </p:txBody>
      </p:sp>
      <p:sp>
        <p:nvSpPr>
          <p:cNvPr id="4" name="출품 주제"/>
          <p:cNvSpPr>
            <a:spLocks noGrp="1"/>
          </p:cNvSpPr>
          <p:nvPr>
            <p:ph type="body" sz="quarter" idx="19"/>
          </p:nvPr>
        </p:nvSpPr>
        <p:spPr>
          <a:xfrm>
            <a:off x="2080800" y="1476000"/>
            <a:ext cx="4910400" cy="208800"/>
          </a:xfrm>
          <a:prstGeom prst="rect">
            <a:avLst/>
          </a:prstGeom>
          <a:noFill/>
        </p:spPr>
        <p:txBody>
          <a:bodyPr wrap="square" anchor="ctr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공지된 주제 번호와 제목</a:t>
            </a:r>
          </a:p>
        </p:txBody>
      </p:sp>
      <p:sp>
        <p:nvSpPr>
          <p:cNvPr id="5" name="인사이트(기획의도)"/>
          <p:cNvSpPr>
            <a:spLocks noGrp="1"/>
          </p:cNvSpPr>
          <p:nvPr>
            <p:ph type="body" sz="quarter" idx="14"/>
          </p:nvPr>
        </p:nvSpPr>
        <p:spPr>
          <a:xfrm>
            <a:off x="2080800" y="2520000"/>
            <a:ext cx="4910400" cy="1180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첫 줄에 타깃(누구를 위한 것인가), 이어서 그 사람이 어떤 상황에서 무엇 때문에 불편한가 (3문장 안팎, 120자 안팎)</a:t>
            </a:r>
          </a:p>
        </p:txBody>
      </p:sp>
      <p:sp>
        <p:nvSpPr>
          <p:cNvPr id="6" name="대표 이미지"/>
          <p:cNvSpPr>
            <a:spLocks noGrp="1"/>
          </p:cNvSpPr>
          <p:nvPr>
            <p:ph type="pic" sz="quarter" idx="10"/>
          </p:nvPr>
        </p:nvSpPr>
        <p:spPr>
          <a:xfrm>
            <a:off x="2070000" y="3942000"/>
            <a:ext cx="1980000" cy="1404000"/>
          </a:xfrm>
          <a:prstGeom prst="rect">
            <a:avLst/>
          </a:prstGeom>
          <a:solidFill>
            <a:srgbClr val="EAF2FB"/>
          </a:solidFill>
        </p:spPr>
        <p:txBody>
          <a:bodyPr wrap="square" anchor="ctr" lIns="108000" tIns="108000" rIns="108000" bIns="108000">
            <a:normAutofit/>
          </a:bodyPr>
          <a:lstStyle>
            <a:lvl1pPr marL="0" indent="0" algn="ctr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0">
                <a:solidFill>
                  <a:srgbClr val="5B6B7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대표 이미지</a:t>
            </a:r>
          </a:p>
        </p:txBody>
      </p:sp>
      <p:sp>
        <p:nvSpPr>
          <p:cNvPr id="7" name="아이디어"/>
          <p:cNvSpPr>
            <a:spLocks noGrp="1"/>
          </p:cNvSpPr>
          <p:nvPr>
            <p:ph type="body" sz="quarter" idx="15"/>
          </p:nvPr>
        </p:nvSpPr>
        <p:spPr>
          <a:xfrm>
            <a:off x="4168800" y="3816000"/>
            <a:ext cx="2822400" cy="1684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우리 아이디어가 무엇이고 지금 방식과 어디가 다른지 한 덩어리로 (4문장 안팎, 150자 안팎)</a:t>
            </a:r>
          </a:p>
        </p:txBody>
      </p:sp>
      <p:sp>
        <p:nvSpPr>
          <p:cNvPr id="8" name="아이디어 배경"/>
          <p:cNvSpPr>
            <a:spLocks noGrp="1"/>
          </p:cNvSpPr>
          <p:nvPr>
            <p:ph type="body" sz="quarter" idx="17"/>
          </p:nvPr>
        </p:nvSpPr>
        <p:spPr>
          <a:xfrm>
            <a:off x="2080800" y="5616000"/>
            <a:ext cx="4910400" cy="820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왜 이 아이디어가 필요한가, 무엇을 근거로 떠올렸는가 — 관찰·조사·출처 있는 자료 (2문장, 100자 안팎)</a:t>
            </a:r>
          </a:p>
        </p:txBody>
      </p:sp>
      <p:sp>
        <p:nvSpPr>
          <p:cNvPr id="9" name="실행방안"/>
          <p:cNvSpPr>
            <a:spLocks noGrp="1"/>
          </p:cNvSpPr>
          <p:nvPr>
            <p:ph type="body" sz="quarter" idx="21"/>
          </p:nvPr>
        </p:nvSpPr>
        <p:spPr>
          <a:xfrm>
            <a:off x="2080800" y="6552000"/>
            <a:ext cx="4910400" cy="1252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누가·언제·어디서·어떤 순서로 실제로 하는가, 시작은 어디서 하는가 (3~4문장, 160자 안팎)</a:t>
            </a:r>
          </a:p>
        </p:txBody>
      </p:sp>
      <p:sp>
        <p:nvSpPr>
          <p:cNvPr id="10" name="기대효과"/>
          <p:cNvSpPr>
            <a:spLocks noGrp="1"/>
          </p:cNvSpPr>
          <p:nvPr>
            <p:ph type="body" sz="quarter" idx="20"/>
          </p:nvPr>
        </p:nvSpPr>
        <p:spPr>
          <a:xfrm>
            <a:off x="2080800" y="7920000"/>
            <a:ext cx="4910400" cy="8208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>
            <a:lvl1pPr marL="0" indent="0" algn="l" eaLnBrk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  <a:defRPr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lvl="0"/>
            <a:r>
              <a:rPr lang="ko-KR" altLang="en-US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누구에게 무엇이 달라지는가 — 숫자는 출처 있는 값만 (2~3문장, 100자 안팎)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432000"/>
            <a:ext cx="6552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432000"/>
            <a:ext cx="6552000" cy="7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32000"/>
            <a:ext cx="6552000" cy="72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000" y="432000"/>
            <a:ext cx="6552000" cy="72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4000" y="432000"/>
            <a:ext cx="6552000" cy="72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팀명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작품 제목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출품 주제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5" name="인사이트(기획의도)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대표 이미지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7" name="아이디어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8" name="아이디어 배경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실행방안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10" name="기대효과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graphicFrame>
        <p:nvGraphicFramePr>
          <p:cNvPr id="11" name="아이디어 보드 표"/>
          <p:cNvGraphicFramePr>
            <a:graphicFrameLocks noGrp="1"/>
          </p:cNvGraphicFramePr>
          <p:nvPr/>
        </p:nvGraphicFramePr>
        <p:xfrm>
          <a:off x="504000" y="360000"/>
          <a:ext cx="6552000" cy="9576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512000"/>
                <a:gridCol w="1044000"/>
                <a:gridCol w="1044000"/>
                <a:gridCol w="900000"/>
                <a:gridCol w="1188000"/>
                <a:gridCol w="864000"/>
              </a:tblGrid>
              <a:tr h="324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팀명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작품 제목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출품 부문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0B2A4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□  </a:t>
                      </a: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크리에이티브영상</a:t>
                      </a: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        </a:t>
                      </a:r>
                      <a:r>
                        <a:rPr lang="ko-KR" altLang="en-US" dirty="0" sz="1000" b="0">
                          <a:solidFill>
                            <a:srgbClr val="0B2A4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□  </a:t>
                      </a: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아이디어영상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출품 주제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규격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길이(초)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용량(MB)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방향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화질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형식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값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인사이트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1800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아이디어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 아이디어 배경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 실행방안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 기대효과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사용 표기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기획·아이디어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장면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음악·음성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자막·문구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프로그램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5B6B7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 함</a:t>
                      </a:r>
                      <a:endParaRPr lang="ko-KR" altLang="en-US" sz="1000" b="0">
                        <a:solidFill>
                          <a:srgbClr val="5B6B7C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5B6B7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 함</a:t>
                      </a:r>
                      <a:endParaRPr lang="ko-KR" altLang="en-US" sz="1000" b="0">
                        <a:solidFill>
                          <a:srgbClr val="5B6B7C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5B6B7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 함</a:t>
                      </a:r>
                      <a:endParaRPr lang="ko-KR" altLang="en-US" sz="1000" b="0">
                        <a:solidFill>
                          <a:srgbClr val="5B6B7C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5B6B7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 함</a:t>
                      </a:r>
                      <a:endParaRPr lang="ko-KR" altLang="en-US" sz="1000" b="0">
                        <a:solidFill>
                          <a:srgbClr val="5B6B7C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5B6B7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 함</a:t>
                      </a:r>
                      <a:endParaRPr lang="ko-KR" altLang="en-US" sz="1000" b="0">
                        <a:solidFill>
                          <a:srgbClr val="5B6B7C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활용한 부분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팀명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예시팀</a:t>
            </a:r>
            <a:endParaRPr lang="ko-KR" altLang="en-US" sz="1000" b="1">
              <a:solidFill>
                <a:srgbClr val="1565C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작품 제목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버리기 전 3초, 분리배출 길잡이</a:t>
            </a:r>
            <a:endParaRPr lang="ko-KR" altLang="en-US" sz="1000" b="1">
              <a:solidFill>
                <a:srgbClr val="0B2A4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출품 주제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아이디어 ② 2030 라이프스타일·니즈를 반영한 신규 서비스 제안(예시)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인사이트(기획의도)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타깃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교내 수거함 앞에서 분리배출 칸을 자주 헷갈리는 대학생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분리수거함 앞에서 컵·용기·캔을 들고 어느 칸에 넣을지 망설이는 모습을 자주 본다. 헷갈리면 일반쓰레기 칸에 넣게 되고 재활용될 물건도 함께 버려진다. 수거함의 글자 안내는 작아서 지나가며 읽기 어렵다.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6" name="대표 이미지" descr="example_main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11" b="11"/>
          <a:stretch>
            <a:fillRect/>
          </a:stretch>
        </p:blipFill>
        <p:spPr/>
      </p:pic>
      <p:sp>
        <p:nvSpPr>
          <p:cNvPr id="7" name="아이디어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수거함 앞에서 휴대폰으로 물건을 비추면 버릴 칸과 준비 방법을 바로 알려 주는 분리배출 길잡이를 만든다.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 기존 안내는 칸 이름을 글자로 보여 주지만, 길잡이는 지금 들고 있는 물건에 맞는 칸과 준비 순서를 알려 주고 앱 설치도 필요 없다.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아이디어 배경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우리는 잘못된 배출이 귀찮음보다 '몰라서' 생긴다고 보았다. 버리는 사람에게 필요한 것은 칸 이름이 아니라 '이 물건을 어떻게 버리나'에 대한 답이라고 판단했다.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실행방안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① 수거함마다 「비춰 보세요」 표시를 붙인다. ② 휴대폰 기본 카메라로 물건을 비추면 「플라스틱 · 비우기 · 헹구기 · 라벨 떼기」처럼 버릴 칸과 준비 순서가 한 화면에 나온다. ③ 휴대폰을 꺼내기 어려운 사람을 위해 같은 내용의 그림 안내판을 수거함 위에 붙인다. ④ 먼저 교내 건물 한 곳에서 시작하고, 사용 결과를 보고 넓힌다.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기대효과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버리는 사람은 망설이는 시간이 줄고, 재활용 칸에 섞이는 이물질이 줄어든다. 수거함 관리자는 다시 골라내는 수고를 던다. 휴대폰을 쓰지 않는 사람도 그림 안내판으로 같은 안내를 받는다.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예시 표시"/>
          <p:cNvSpPr txBox="1"/>
          <p:nvPr/>
        </p:nvSpPr>
        <p:spPr>
          <a:xfrm>
            <a:off x="504000" y="18000"/>
            <a:ext cx="6552000" cy="324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 eaLnBrk="0" hangingPunct="1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dirty="0" sz="1000" b="1">
                <a:solidFill>
                  <a:srgbClr val="B35F0E"/>
                </a:solidFill>
                <a:latin typeface="Malgun Gothic"/>
                <a:ea typeface="Malgun Gothic"/>
                <a:cs typeface="Malgun Gothic"/>
              </a:rPr>
              <a:t>예시입니다</a:t>
            </a:r>
            <a:r>
              <a:rPr lang="ko-KR" altLang="en-US" dirty="0" sz="1000" b="0">
                <a:solidFill>
                  <a:srgbClr val="B35F0E"/>
                </a:solidFill>
                <a:latin typeface="Malgun Gothic"/>
                <a:ea typeface="Malgun Gothic"/>
                <a:cs typeface="Malgun Gothic"/>
              </a:rPr>
              <a:t>  ·  우리 팀 주제가 아닙니다 · 부문·주제·영상 규격, AI 사용 내용은 예시(가공)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dirty="0" sz="1000" b="1">
                <a:solidFill>
                  <a:srgbClr val="B35F0E"/>
                </a:solidFill>
                <a:latin typeface="Malgun Gothic"/>
                <a:ea typeface="Malgun Gothic"/>
                <a:cs typeface="Malgun Gothic"/>
              </a:rPr>
              <a:t>이 장은 참고용입니다. 제출은 1장(빈 양식을 채운 장)만 PDF로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12" name="아이디어 보드 표"/>
          <p:cNvGraphicFramePr>
            <a:graphicFrameLocks noGrp="1"/>
          </p:cNvGraphicFramePr>
          <p:nvPr/>
        </p:nvGraphicFramePr>
        <p:xfrm>
          <a:off x="504000" y="360000"/>
          <a:ext cx="6552000" cy="9576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512000"/>
                <a:gridCol w="1044000"/>
                <a:gridCol w="1044000"/>
                <a:gridCol w="900000"/>
                <a:gridCol w="1188000"/>
                <a:gridCol w="864000"/>
              </a:tblGrid>
              <a:tr h="324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팀명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작품 제목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출품 부문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0B2A4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□  </a:t>
                      </a: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크리에이티브영상</a:t>
                      </a: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        </a:t>
                      </a:r>
                      <a:r>
                        <a:rPr lang="ko-KR" altLang="en-US" dirty="0" sz="1000" b="0">
                          <a:solidFill>
                            <a:srgbClr val="0B2A4A"/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■  </a:t>
                      </a: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아이디어영상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출품 주제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규격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길이(초)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용량(MB)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방향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화질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형식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값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420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가로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FHD 1920×1080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MP4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인사이트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1800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아이디어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 아이디어 배경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 실행방안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 기대효과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t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사용 표기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기획·아이디어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 장면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음악·음성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자막·문구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프로그램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ChatGPT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Grok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Gemini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5B6B7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 함</a:t>
                      </a:r>
                      <a:endParaRPr lang="ko-KR" altLang="en-US" sz="1000" b="0">
                        <a:solidFill>
                          <a:srgbClr val="5B6B7C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5B6B7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안 함</a:t>
                      </a:r>
                      <a:endParaRPr lang="ko-KR" altLang="en-US" sz="1000" b="0">
                        <a:solidFill>
                          <a:srgbClr val="5B6B7C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1">
                          <a:solidFill>
                            <a:srgbClr val="0B2A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활용한 부분</a:t>
                      </a:r>
                      <a:endParaRPr lang="ko-KR" altLang="en-US" sz="1000" b="1">
                        <a:solidFill>
                          <a:srgbClr val="0B2A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아이디어 정리, 문장 다듬기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이미지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13초~25초 장면</a:t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 ea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sz="10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lang="ko-KR" altLang="en-US" sz="1000" b="0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4800" marR="64800" marT="72000" marB="43200" anchor="ctr">
                    <a:lnL w="9525" cap="flat" cmpd="sng">
                      <a:solidFill>
                        <a:srgbClr val="9FB1C5"/>
                      </a:solidFill>
                      <a:prstDash val="solid"/>
                    </a:lnL>
                    <a:lnR w="9525" cap="flat" cmpd="sng">
                      <a:solidFill>
                        <a:srgbClr val="9FB1C5"/>
                      </a:solidFill>
                      <a:prstDash val="solid"/>
                    </a:lnR>
                    <a:lnT w="9525" cap="flat" cmpd="sng">
                      <a:solidFill>
                        <a:srgbClr val="9FB1C5"/>
                      </a:solidFill>
                      <a:prstDash val="solid"/>
                    </a:lnT>
                    <a:lnB w="9525" cap="flat" cmpd="sng">
                      <a:solidFill>
                        <a:srgbClr val="9FB1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04000" y="306000"/>
            <a:ext cx="6552000" cy="324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제출 직전 체크리스트</a:t>
            </a:r>
            <a:endParaRPr lang="ko-KR" altLang="en-US" sz="1000" b="1">
              <a:solidFill>
                <a:srgbClr val="0B2A4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숨김 안내"/>
          <p:cNvSpPr txBox="1"/>
          <p:nvPr/>
        </p:nvSpPr>
        <p:spPr>
          <a:xfrm>
            <a:off x="504000" y="630000"/>
            <a:ext cx="6552000" cy="19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B35F0E"/>
                </a:solidFill>
                <a:latin typeface="Malgun Gothic"/>
                <a:ea typeface="Malgun Gothic"/>
                <a:cs typeface="Malgun Gothic"/>
              </a:rPr>
              <a:t>이 장은 숨김 처리되어 PDF에 들어가지 않습니다(PDF가 1쪽인지 꼭 확인)</a:t>
            </a:r>
            <a:endParaRPr lang="ko-KR" altLang="en-US" sz="1000" b="1">
              <a:solidFill>
                <a:srgbClr val="B35F0E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4000" y="871200"/>
            <a:ext cx="6552000" cy="0"/>
          </a:xfrm>
          <a:prstGeom prst="line">
            <a:avLst/>
          </a:prstGeom>
          <a:ln w="19050">
            <a:solidFill>
              <a:srgbClr val="0B2A4A"/>
            </a:solidFill>
          </a:ln>
        </p:spPr>
      </p:cxnSp>
      <p:sp>
        <p:nvSpPr>
          <p:cNvPr id="5" name="체크리스트"/>
          <p:cNvSpPr txBox="1"/>
          <p:nvPr/>
        </p:nvSpPr>
        <p:spPr>
          <a:xfrm>
            <a:off x="504000" y="972000"/>
            <a:ext cx="6552000" cy="918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① 보드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팀명·작품 제목 외에 학교·학과·소속·이름이 없다(그림 속 글자 포함)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출품 부문 칸에서 한쪽만 ■로 바꿨고, 영상 규격이 그 부문 기준 안이다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영상 규격 표의 값(길이·용량·화면 방향·화질·형식)이 실제 파일과 같다</a:t>
            </a:r>
            <a:r>
              <a:rPr lang="ko-KR" altLang="en-US" dirty="0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   수업 확인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AI 사용 표기 — 쓴 영역에는 사용 프로그램과 활용한 부분을 적었다(안 썼으면 「사용 안 함」)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대표 이미지는 1개 · 저작권 문제가 없는 이미지(직접 만들었거나 사용 허락이 있는 것)</a:t>
            </a:r>
            <a:r>
              <a:rPr lang="ko-KR" altLang="en-US" dirty="0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   수업 확인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1 인사이트(기획의도) — 첫 줄에 타깃, 이어서 문제 상황(문제정의)이 있다</a:t>
            </a:r>
            <a:r>
              <a:rPr lang="ko-KR" altLang="en-US" dirty="0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   규정 필수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2 아이디어 — 핵심 아이디어와 기존 방식과 다른 점이 한 덩어리로 쓰여 있다</a:t>
            </a:r>
            <a:r>
              <a:rPr lang="ko-KR" altLang="en-US" dirty="0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   규정 필수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3 아이디어 배경 — 왜 필요한지, 무엇을 근거로 떠올렸는지 쓰여 있다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4 실행방안 — 누가·언제·어디서·어떤 순서로 하는지, 실제로 가능한지(실현 가능성)가 보인다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5 기대효과 — 누구에게 무엇이 달라지는지 쓰여 있다(숫자는 출처 있는 값만)</a:t>
            </a:r>
            <a:r>
              <a:rPr lang="ko-KR" altLang="en-US" dirty="0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   규정 필수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인터넷 주소(URL)·QR 코드가 없다(예심은 인터넷이 연결되지 않은 노트북으로 진행)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글자가 잘리거나 겹치지 않는다 · PDF로 변환해 제출한다 · 저장 후 1쪽이다</a:t>
            </a:r>
            <a:r>
              <a:rPr lang="ko-KR" altLang="en-US" dirty="0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   수업 확인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PDF 저장 시 1쪽만 내보내기(예시 장 제외)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PDF 저장 후 파일 속성(작성자·제목)에 이름·학교가 없는지 확인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/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② 영상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부문별 규격 — 크리에이티브 60초·500MB·가로세로 무관 / 아이디어 120초·800MB·가로만 · MP4 · FHD급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화면·자막·파일 이름에 학교·학과·소속·이름이 없다</a:t>
            </a:r>
            <a:r>
              <a:rPr lang="ko-KR" altLang="en-US" dirty="0" sz="1000" b="0">
                <a:solidFill>
                  <a:srgbClr val="8A9BAE"/>
                </a:solidFill>
                <a:latin typeface="Malgun Gothic"/>
                <a:ea typeface="Malgun Gothic"/>
                <a:cs typeface="Malgun Gothic"/>
              </a:rPr>
              <a:t>   파일 이름은 수업 확인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AI를 썼다면 영상 마지막(2~3초)에 사용 프로그램과 활용한 부분을 자막으로 넣었다(보드 AI 표와 같은 내용)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음악·사진·폰트·출연자 초상권·촬영 장소 허락을 해결했다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'배달이' 캐릭터를 쓰지 않았다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유튜브에 올려 저작권 침해 여부를 확인했다 · Windows에서 재생된다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/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③ 접수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출품 부문을 정확히 선택했다(잘못 지정하면 실격) · 참가 지역은 재학 중인 학교 기준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지도교수를 선임했다 · 팀은 학생 2~5명이다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2000"/>
              </a:lnSpc>
              <a:spcAft>
                <a:spcPts val="500"/>
              </a:spcAft>
              <a:buNone/>
            </a:pPr>
            <a:r>
              <a:rPr lang="ko-KR" altLang="en-US" dirty="0" sz="1000" b="0">
                <a:solidFill>
                  <a:srgbClr val="0B2A4A"/>
                </a:solidFill>
                <a:latin typeface="Segoe UI Symbol"/>
                <a:ea typeface="Segoe UI Symbol"/>
                <a:cs typeface="Segoe UI Symbol"/>
              </a:rPr>
              <a:t>☐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마감 11/9(월) 23:50 — 지나면 수정·접수 불가, 마감 3시간 전 업로드 권장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504000" y="306000"/>
            <a:ext cx="6552000" cy="324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작성 요령</a:t>
            </a:r>
            <a:endParaRPr lang="ko-KR" altLang="en-US" sz="1000" b="1">
              <a:solidFill>
                <a:srgbClr val="0B2A4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숨김 안내"/>
          <p:cNvSpPr txBox="1"/>
          <p:nvPr/>
        </p:nvSpPr>
        <p:spPr>
          <a:xfrm>
            <a:off x="504000" y="630000"/>
            <a:ext cx="6552000" cy="19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 eaLnBrk="0" hangingPunct="1">
              <a:lnSpc>
                <a:spcPct val="112000"/>
              </a:lnSpc>
              <a:spcAft>
                <a:spcPts val="200"/>
              </a:spcAft>
              <a:buNone/>
            </a:pPr>
            <a:r>
              <a:rPr lang="ko-KR" altLang="en-US" dirty="0" sz="1000" b="1">
                <a:solidFill>
                  <a:srgbClr val="B35F0E"/>
                </a:solidFill>
                <a:latin typeface="Malgun Gothic"/>
                <a:ea typeface="Malgun Gothic"/>
                <a:cs typeface="Malgun Gothic"/>
              </a:rPr>
              <a:t>이 장은 숨김 처리되어 PDF에 들어가지 않습니다(PDF가 1쪽인지 꼭 확인)</a:t>
            </a:r>
            <a:endParaRPr lang="ko-KR" altLang="en-US" sz="1000" b="1">
              <a:solidFill>
                <a:srgbClr val="B35F0E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4000" y="871200"/>
            <a:ext cx="6552000" cy="0"/>
          </a:xfrm>
          <a:prstGeom prst="line">
            <a:avLst/>
          </a:prstGeom>
          <a:ln w="19050">
            <a:solidFill>
              <a:srgbClr val="0B2A4A"/>
            </a:solidFill>
          </a:ln>
        </p:spPr>
      </p:cxnSp>
      <p:sp>
        <p:nvSpPr>
          <p:cNvPr id="5" name="작성 요령 본문"/>
          <p:cNvSpPr txBox="1"/>
          <p:nvPr/>
        </p:nvSpPr>
        <p:spPr>
          <a:xfrm>
            <a:off x="504000" y="972000"/>
            <a:ext cx="6552000" cy="918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흐름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보드는 규정 권장 구성(문제정의 → 아이디어 → 아이디어 배경 → 실행방안 → 기대효과)을 따릅니다. 규정이 반드시 넣으라고 한 것은 인사이트(기획의도)·아이디어·기대효과입니다. 심사표는 타깃의 특성, 기존 접근과의 차별점, 실현가능성을 봅니다.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팀명·작품 제목·출품 부문·출품 주제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팀명은 학교·학과·소속·이름이 드러나지 않게. 작품 제목은 아이디어가 짐작되게 한 줄 안에. 출품 부문은 칸의 □ 둘 중 하나를 ■로 바꿔 고릅니다(잘못 지정하면 실격). 주제는 고른 부문의 번호와 제목을 그대로 — 크리에이티브 ① '세상 모든 것이 식지 않도록' 브랜드 미션 ② 2030 소비 일상에 변화를 준 커머스 브랜드 필름 / 아이디어 ① 아이들을 위한 신규 사회공헌 프로그램 제안 ② 2030 라이프스타일·니즈를 반영한 신규 서비스 제안.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영상 규격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완성한 영상 파일의 실제 값을 씁니다(길이는 초, 용량은 MB, 화면 방향은 가로 또는 세로, 화질은 예: FHD 1920×1080, 형식은 MP4). 부문별 기준 — 크리에이티브영상 60초 이내·500MB 이하·가로세로 무관 / 아이디어영상 120초 이내·800MB 이하·가로만 / 둘 다 MP4·FHD급.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1 인사이트(기획의도)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기획의도 = 왜 이 영상을 만들었는가. 첫 줄에 「타깃: 누구를 위한 것인가」를 쓰고, 이어서 그 사람이 어떤 상황에서 무엇 때문에 불편한가(해결할 문제, 문제정의)를 씁니다.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2 아이디어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왼쪽 칸에 대표 이미지 1개 — 연한 파란 칸의 그림 아이콘을 누르거나 끌어다 놓고, 「그림 서식 → 자르기」로 보이는 부분을 고릅니다. 오른쪽 칸에는 우리 아이디어가 무엇인지 한 문장으로 먼저 쓰고, 이어서 지금 하는 방식과 어디가 다른지(기존 방식과 다른 점)를 한 덩어리로 씁니다. AI로 만든 그림이면 아래 AI 사용 표기 표의 「이미지」 칸에도 씁니다.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3 아이디어 배경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이 아이디어가 왜 필요한지, 무엇을 보고 떠올렸는지(관찰·조사·실험·출처 있는 자료).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4 실행방안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누가·언제·어디서·어떤 순서로 하는지, 처음에는 어디서 시작하는지를 씁니다. 실제로 하지 않아도 되지만 어떻게 구체화될지, 실제로 가능한지(실현 가능성)가 보여야 합니다.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5 기대효과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누구에게 무엇이 달라지는지. 숫자는 출처 있는 값만, 없으면 쓰지 않습니다.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AI 사용 표기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규정상 사용 프로그램과 활용한 부분을 작품(영상)과 보드 모두에 명시해야 합니다. 보드에서는 영역마다 「사용 안 함」이 기본으로 들어 있으니, 쓴 영역만 「사용 프로그램」 칸에 도구 이름을, 「활용한 부분」 칸에 어느 부분인지(예: 13초~25초 장면, 대표 이미지, 배경음악 전체)를 적습니다. 영상에서는 마지막 2~3초에 같은 내용을 자막으로 넣습니다 — 예: 「AI 활용: Gemini(영상 장면 13~25초), ChatGPT(자막 문구)」. AI를 전혀 쓰지 않았으면 영상 자막은 필요 없고, 보드 표에는 「사용 안 함」을 그대로 둡니다. 어떻게 썼는지는 쓰지 않아도 되고, 한 영역에 도구가 둘이면 쉼표로 이어 씁니다.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  <a:p>
            <a:pPr algn="l" marL="0" indent="0" eaLnBrk="0" hangingPunct="1">
              <a:lnSpc>
                <a:spcPct val="118000"/>
              </a:lnSpc>
              <a:spcAft>
                <a:spcPts val="800"/>
              </a:spcAft>
              <a:buNone/>
            </a:pPr>
            <a:r>
              <a:rPr lang="ko-KR" altLang="en-US" dirty="0" sz="1000" b="1">
                <a:solidFill>
                  <a:srgbClr val="0B2A4A"/>
                </a:solidFill>
                <a:latin typeface="Malgun Gothic"/>
                <a:ea typeface="Malgun Gothic"/>
                <a:cs typeface="Malgun Gothic"/>
              </a:rPr>
              <a:t>저장  </a:t>
            </a:r>
            <a:r>
              <a:rPr lang="ko-KR" altLang="en-US" dirty="0" sz="1000" b="0">
                <a:solidFill>
                  <a:srgbClr val="1B2430"/>
                </a:solidFill>
                <a:latin typeface="Malgun Gothic"/>
                <a:ea typeface="Malgun Gothic"/>
                <a:cs typeface="Malgun Gothic"/>
              </a:rPr>
              <a:t>이 파일의 2장은 작성 예시(참고용)입니다. 제출은 1장만 — 「파일 → 내보내기 → PDF」의 옵션에서 슬라이드 범위를 1쪽으로 지정합니다(2장까지 내보내면 예시가 함께 제출됩니다). 내보낸 PDF가 1쪽인지 확인합니다. 인터넷 주소·QR 코드는 넣지 않고, 칸을 넘치면 글자가 작아지니 내용을 줄입니다.</a:t>
            </a:r>
            <a:endParaRPr lang="ko-KR" altLang="en-US" sz="1000" b="0">
              <a:solidFill>
                <a:srgbClr val="1B2430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아이디어 보드 양식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